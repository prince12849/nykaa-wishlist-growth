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1a2bbb4d14eef" /><Relationship Type="http://schemas.openxmlformats.org/officeDocument/2006/relationships/extended-properties" Target="/docProps/app.xml" Id="R741bfa9106e3477a" /><Relationship Type="http://schemas.openxmlformats.org/officeDocument/2006/relationships/officeDocument" Target="/ppt/presentation.xml" Id="R29fe98e2a44f4a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05e28dc82c4333"/>
  </p:sldMasterIdLst>
  <p:notesMasterIdLst>
    <p:notesMasterId xmlns:r="http://schemas.openxmlformats.org/officeDocument/2006/relationships" r:id="Rf12cb8d0e9a243b0"/>
  </p:notesMasterIdLst>
  <p:sldIdLst>
    <p:sldId xmlns:r="http://schemas.openxmlformats.org/officeDocument/2006/relationships" id="256" r:id="R58fe67a3a4ce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4332bd50b4edf" /><Relationship Type="http://schemas.openxmlformats.org/officeDocument/2006/relationships/slideMaster" Target="/ppt/slideMasters/slideMaster1.xml" Id="Rbf05e28dc82c4333" /><Relationship Type="http://schemas.openxmlformats.org/officeDocument/2006/relationships/notesMaster" Target="/ppt/notesMasters/notesMaster1.xml" Id="Rf12cb8d0e9a243b0" /><Relationship Type="http://schemas.openxmlformats.org/officeDocument/2006/relationships/presProps" Target="/ppt/presProps.xml" Id="R3c9e4ac6bf374a2b" /><Relationship Type="http://schemas.openxmlformats.org/officeDocument/2006/relationships/tableStyles" Target="/ppt/tableStyles.xml" Id="Rfbaed1e3229c4920" /><Relationship Type="http://schemas.openxmlformats.org/officeDocument/2006/relationships/slide" Target="/ppt/slides/slide1.xml" Id="R58fe67a3a4ce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a922c4151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76b981f5b94646" /><Relationship Type="http://schemas.openxmlformats.org/officeDocument/2006/relationships/notesMaster" Target="/ppt/notesMasters/notesMaster1.xml" Id="Ra2c21e1fef4248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 establishes the business tension: Nykaa Fashion is growing, the category is expanding, and wishlist captures intent that may not become purchase.</a:t>
            </a:r>
          </a:p>
          <a:p xmlns:a="http://schemas.openxmlformats.org/drawingml/2006/main">
            <a:r>
              <a:t>Source: Nykaa Q1 FY27 — https://apparelresources.com/business-news/retail/nykaa-fashion-q1-gmv-jumps-53-rs-1471-crore/</a:t>
            </a:r>
          </a:p>
          <a:p xmlns:a="http://schemas.openxmlformats.org/drawingml/2006/main">
            <a:r>
              <a:t>Source: Nykaa FY25 Annual Report / Redseer — https://www.nykaa.com/media/wysiwyg/uiTools/2025-8/Integrated-Annual-Report-2024-25.pdf</a:t>
            </a:r>
          </a:p>
          <a:p xmlns:a="http://schemas.openxmlformats.org/drawingml/2006/main">
            <a:r>
              <a:t>Source: Datum Intelligence via Mint — https://www.livemint.com/companies/nykaa-fashion-gmv-growth-profitability-11781421999258.html</a:t>
            </a:r>
          </a:p>
          <a:p xmlns:a="http://schemas.openxmlformats.org/drawingml/2006/main">
            <a:r>
              <a:t>Competitive share is shown as context only. It is not presented as a cause of the wishlist-to-purchase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d9b933a20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205bbc3724f40" /><Relationship Type="http://schemas.openxmlformats.org/officeDocument/2006/relationships/slideLayout" Target="/ppt/slideLayouts/slideLayout1.xml" Id="R06c857c7588c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c857c7588c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fa363c88b411c" /><Relationship Type="http://schemas.openxmlformats.org/officeDocument/2006/relationships/hyperlink" Target="https://apparelresources.com/business-news/retail/nykaa-fashion-q1-gmv-jumps-53-rs-1471-crore/" TargetMode="External" Id="Rba13f9a0fde34d4b" /><Relationship Type="http://schemas.openxmlformats.org/officeDocument/2006/relationships/hyperlink" Target="https://www.nykaa.com/media/wysiwyg/uiTools/2025-8/Integrated-Annual-Report-2024-25.pdf" TargetMode="External" Id="R033c650a78fe4ce5" /><Relationship Type="http://schemas.openxmlformats.org/officeDocument/2006/relationships/hyperlink" Target="https://www.livemint.com/companies/nykaa-fashion-gmv-growth-profitability-11781421999258.html" TargetMode="External" Id="R023457f1f6b6482b" /><Relationship Type="http://schemas.openxmlformats.org/officeDocument/2006/relationships/notesSlide" Target="/ppt/notesSlides/notesSlide1.xml" Id="R2b2a125a560c43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kicker">
            <a:extLst xmlns:a="http://schemas.openxmlformats.org/drawingml/2006/main">
              <a:ext uri="{FF2B5EF4-FFF2-40B4-BE49-F238E27FC236}">
                <a16:creationId xmlns:a16="http://schemas.microsoft.com/office/drawing/2014/main" id="{DA381E46-21B1-499E-96B7-D1766D1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NYKAA FASHION  /  BUSINESS TENSION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20EC01-4C33-4E7C-9FE7-11F415E4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7AAF83-C3CB-42CB-A75A-521D768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Nykaa Fashion is growing fast — the next unlock is converting more saved intent into purchases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B0A41-443E-4EF1-82FD-E39364C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2E61"/>
            </a:solidFill>
            <a:prstDash val="solid"/>
          </a:ln>
        </p:spPr>
      </p:sp>
      <p:sp>
        <p:nvSpPr>
          <p:cNvPr id="5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A1F1F854-CF61-4A82-8245-AC6A3C0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₹1,471 Cr</a:t>
            </a:r>
          </a:p>
        </p:txBody>
      </p:sp>
      <p:sp>
        <p:nvSpPr>
          <p:cNvPr id="6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64C2008A-7136-4E52-B962-E16B93F0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Fashion GMV, Q1 FY27</a:t>
            </a:r>
          </a:p>
        </p:txBody>
      </p:sp>
      <p:sp>
        <p:nvSpPr>
          <p:cNvPr id="7" name="metric-1-note">
            <a:extLst xmlns:a="http://schemas.openxmlformats.org/drawingml/2006/main">
              <a:ext uri="{FF2B5EF4-FFF2-40B4-BE49-F238E27FC236}">
                <a16:creationId xmlns:a16="http://schemas.microsoft.com/office/drawing/2014/main" id="{7A88E4F8-146C-4F4F-B67B-AFE4BA23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+53% YoY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DC53A-745D-4D4D-9689-2FB19D3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621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9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7079C0A4-A0D2-489E-82D7-3FACDFC0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12M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13BBA209-E30F-42EC-BD0D-7BB39916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95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Cumulative Fashion customers</a:t>
            </a:r>
          </a:p>
        </p:txBody>
      </p:sp>
      <p:sp>
        <p:nvSpPr>
          <p:cNvPr id="11" name="metric-2-note">
            <a:extLst xmlns:a="http://schemas.openxmlformats.org/drawingml/2006/main">
              <a:ext uri="{FF2B5EF4-FFF2-40B4-BE49-F238E27FC236}">
                <a16:creationId xmlns:a16="http://schemas.microsoft.com/office/drawing/2014/main" id="{E338FD76-5E69-4058-B13E-84A1A283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+34% YoY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C8BDF-3DD7-429A-B154-B58FD97D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621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13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0B0E6714-4444-4404-8469-A867B4C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0.1%</a:t>
            </a:r>
          </a:p>
        </p:txBody>
      </p:sp>
      <p:sp>
        <p:nvSpPr>
          <p:cNvPr id="1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111B12C6-AB50-4354-920B-A482958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95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Fashion EBITDA margin</a:t>
            </a:r>
          </a:p>
        </p:txBody>
      </p:sp>
      <p:sp>
        <p:nvSpPr>
          <p:cNvPr id="15" name="metric-3-note">
            <a:extLst xmlns:a="http://schemas.openxmlformats.org/drawingml/2006/main">
              <a:ext uri="{FF2B5EF4-FFF2-40B4-BE49-F238E27FC236}">
                <a16:creationId xmlns:a16="http://schemas.microsoft.com/office/drawing/2014/main" id="{E9D75C43-F368-4486-9857-488B7CD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8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Q1 FY27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2C233-E1A2-48E9-BEAB-2AE96C80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17" name="market-heading">
            <a:extLst xmlns:a="http://schemas.openxmlformats.org/drawingml/2006/main">
              <a:ext uri="{FF2B5EF4-FFF2-40B4-BE49-F238E27FC236}">
                <a16:creationId xmlns:a16="http://schemas.microsoft.com/office/drawing/2014/main" id="{1797557A-D2A7-4B50-B786-1E1E74FB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MARKET CONTEXT</a:t>
            </a:r>
          </a:p>
        </p:txBody>
      </p:sp>
      <p:sp>
        <p:nvSpPr>
          <p:cNvPr id="18" name="market-size">
            <a:extLst xmlns:a="http://schemas.openxmlformats.org/drawingml/2006/main">
              <a:ext uri="{FF2B5EF4-FFF2-40B4-BE49-F238E27FC236}">
                <a16:creationId xmlns:a16="http://schemas.microsoft.com/office/drawing/2014/main" id="{E6E215E4-0826-426F-8E1F-E2470AA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$18B FY25  →  $55–60B FY30P</a:t>
            </a:r>
          </a:p>
        </p:txBody>
      </p:sp>
      <p:sp>
        <p:nvSpPr>
          <p:cNvPr id="19" name="market-cagr">
            <a:extLst xmlns:a="http://schemas.openxmlformats.org/drawingml/2006/main">
              <a:ext uri="{FF2B5EF4-FFF2-40B4-BE49-F238E27FC236}">
                <a16:creationId xmlns:a16="http://schemas.microsoft.com/office/drawing/2014/main" id="{AAB0472E-1632-4C14-9CE8-04681B3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2" b="1" i="0">
                <a:solidFill>
                  <a:srgbClr val="342E2B"/>
                </a:solidFill>
                <a:latin typeface="Arial"/>
                <a:ea typeface="Arial"/>
                <a:cs typeface="Arial"/>
              </a:defRPr>
            </a:pPr>
            <a:r>
              <a:rPr sz="1702" b="1" i="0">
                <a:solidFill>
                  <a:srgbClr val="342E2B"/>
                </a:solidFill>
                <a:latin typeface="Arial"/>
                <a:ea typeface="Arial"/>
                <a:cs typeface="Arial"/>
              </a:rPr>
              <a:t>22–25% CAGR</a:t>
            </a:r>
          </a:p>
        </p:txBody>
      </p:sp>
      <p:sp>
        <p:nvSpPr>
          <p:cNvPr id="20" name="market-penetration-value">
            <a:extLst xmlns:a="http://schemas.openxmlformats.org/drawingml/2006/main">
              <a:ext uri="{FF2B5EF4-FFF2-40B4-BE49-F238E27FC236}">
                <a16:creationId xmlns:a16="http://schemas.microsoft.com/office/drawing/2014/main" id="{764B6D6E-5498-419C-AFAB-36E24D8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2" b="1" i="0">
                <a:solidFill>
                  <a:srgbClr val="342E2B"/>
                </a:solidFill>
                <a:latin typeface="Arial"/>
                <a:ea typeface="Arial"/>
                <a:cs typeface="Arial"/>
              </a:defRPr>
            </a:pPr>
            <a:r>
              <a:rPr sz="1702" b="1" i="0">
                <a:solidFill>
                  <a:srgbClr val="342E2B"/>
                </a:solidFill>
                <a:latin typeface="Arial"/>
                <a:ea typeface="Arial"/>
                <a:cs typeface="Arial"/>
              </a:rPr>
              <a:t>18% → 30%</a:t>
            </a:r>
          </a:p>
        </p:txBody>
      </p:sp>
      <p:sp>
        <p:nvSpPr>
          <p:cNvPr id="21" name="market-penetration-label">
            <a:extLst xmlns:a="http://schemas.openxmlformats.org/drawingml/2006/main">
              <a:ext uri="{FF2B5EF4-FFF2-40B4-BE49-F238E27FC236}">
                <a16:creationId xmlns:a16="http://schemas.microsoft.com/office/drawing/2014/main" id="{A4E813D3-A99F-418F-9B1D-09FE710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Online penetration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E1859-DC1E-4883-B3D4-61FBF5E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0" cy="1362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23" name="competitive-heading">
            <a:extLst xmlns:a="http://schemas.openxmlformats.org/drawingml/2006/main">
              <a:ext uri="{FF2B5EF4-FFF2-40B4-BE49-F238E27FC236}">
                <a16:creationId xmlns:a16="http://schemas.microsoft.com/office/drawing/2014/main" id="{D2A2564D-3AE8-4B3D-AA11-BE17EB2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COMPETITIVE CONTEXT</a:t>
            </a:r>
          </a:p>
        </p:txBody>
      </p:sp>
      <p:sp>
        <p:nvSpPr>
          <p:cNvPr id="24" name="competitive-subheading">
            <a:extLst xmlns:a="http://schemas.openxmlformats.org/drawingml/2006/main">
              <a:ext uri="{FF2B5EF4-FFF2-40B4-BE49-F238E27FC236}">
                <a16:creationId xmlns:a16="http://schemas.microsoft.com/office/drawing/2014/main" id="{4D5725FA-A6F0-4741-BE7A-896687D0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2025 India online fashion share</a:t>
            </a:r>
          </a:p>
        </p:txBody>
      </p:sp>
      <p:sp>
        <p:nvSpPr>
          <p:cNvPr id="25" name="share-1-name">
            <a:extLst xmlns:a="http://schemas.openxmlformats.org/drawingml/2006/main">
              <a:ext uri="{FF2B5EF4-FFF2-40B4-BE49-F238E27FC236}">
                <a16:creationId xmlns:a16="http://schemas.microsoft.com/office/drawing/2014/main" id="{14CB6109-D1A0-4C98-BA8A-3E85AAF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Flipkart</a:t>
            </a:r>
          </a:p>
        </p:txBody>
      </p:sp>
      <p:sp>
        <p:nvSpPr>
          <p:cNvPr id="26" name="share-1-value">
            <a:extLst xmlns:a="http://schemas.openxmlformats.org/drawingml/2006/main">
              <a:ext uri="{FF2B5EF4-FFF2-40B4-BE49-F238E27FC236}">
                <a16:creationId xmlns:a16="http://schemas.microsoft.com/office/drawing/2014/main" id="{D6E50D1F-4533-46A0-883E-C3F18D5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0045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25.2%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BFF76-9334-4CEF-9591-1F1BEA1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28" name="share-2-name">
            <a:extLst xmlns:a="http://schemas.openxmlformats.org/drawingml/2006/main">
              <a:ext uri="{FF2B5EF4-FFF2-40B4-BE49-F238E27FC236}">
                <a16:creationId xmlns:a16="http://schemas.microsoft.com/office/drawing/2014/main" id="{5AAA5DB0-4D3D-4392-9531-8518506C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Myntra</a:t>
            </a:r>
          </a:p>
        </p:txBody>
      </p:sp>
      <p:sp>
        <p:nvSpPr>
          <p:cNvPr id="29" name="share-2-value">
            <a:extLst xmlns:a="http://schemas.openxmlformats.org/drawingml/2006/main">
              <a:ext uri="{FF2B5EF4-FFF2-40B4-BE49-F238E27FC236}">
                <a16:creationId xmlns:a16="http://schemas.microsoft.com/office/drawing/2014/main" id="{49CE15CB-CD5F-478D-9709-53BDF3B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7190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17.1%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20C18-A42C-477B-B3DD-4755562F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31" name="share-3-name">
            <a:extLst xmlns:a="http://schemas.openxmlformats.org/drawingml/2006/main">
              <a:ext uri="{FF2B5EF4-FFF2-40B4-BE49-F238E27FC236}">
                <a16:creationId xmlns:a16="http://schemas.microsoft.com/office/drawing/2014/main" id="{008410F2-5928-4F00-9D29-61A349E3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Meesho</a:t>
            </a:r>
          </a:p>
        </p:txBody>
      </p:sp>
      <p:sp>
        <p:nvSpPr>
          <p:cNvPr id="32" name="share-3-value">
            <a:extLst xmlns:a="http://schemas.openxmlformats.org/drawingml/2006/main">
              <a:ext uri="{FF2B5EF4-FFF2-40B4-BE49-F238E27FC236}">
                <a16:creationId xmlns:a16="http://schemas.microsoft.com/office/drawing/2014/main" id="{FD7DDDF7-7125-4D6B-A236-112F975B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4335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14.0%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EBBA9-96EB-4717-B49A-278C8A3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34" name="share-4-name">
            <a:extLst xmlns:a="http://schemas.openxmlformats.org/drawingml/2006/main">
              <a:ext uri="{FF2B5EF4-FFF2-40B4-BE49-F238E27FC236}">
                <a16:creationId xmlns:a16="http://schemas.microsoft.com/office/drawing/2014/main" id="{5CD0E58D-FF02-4D57-9F6E-E2D493F3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Amazon</a:t>
            </a:r>
          </a:p>
        </p:txBody>
      </p:sp>
      <p:sp>
        <p:nvSpPr>
          <p:cNvPr id="35" name="share-4-value">
            <a:extLst xmlns:a="http://schemas.openxmlformats.org/drawingml/2006/main">
              <a:ext uri="{FF2B5EF4-FFF2-40B4-BE49-F238E27FC236}">
                <a16:creationId xmlns:a16="http://schemas.microsoft.com/office/drawing/2014/main" id="{185FD786-2117-4762-9C85-3C5C747D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1480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13.8%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3D4656-F5EF-4BC7-B757-EC4EC31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37" name="share-5-name">
            <a:extLst xmlns:a="http://schemas.openxmlformats.org/drawingml/2006/main">
              <a:ext uri="{FF2B5EF4-FFF2-40B4-BE49-F238E27FC236}">
                <a16:creationId xmlns:a16="http://schemas.microsoft.com/office/drawing/2014/main" id="{4FFB0598-DC02-43F2-82D6-DBA28FDA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AJIO</a:t>
            </a:r>
          </a:p>
        </p:txBody>
      </p:sp>
      <p:sp>
        <p:nvSpPr>
          <p:cNvPr id="38" name="share-5-value">
            <a:extLst xmlns:a="http://schemas.openxmlformats.org/drawingml/2006/main">
              <a:ext uri="{FF2B5EF4-FFF2-40B4-BE49-F238E27FC236}">
                <a16:creationId xmlns:a16="http://schemas.microsoft.com/office/drawing/2014/main" id="{2B6BFC01-6974-413B-A7CF-387323C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28625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9.0%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D9CAF2-74EC-469F-A3E5-2D06070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40" name="share-6-name">
            <a:extLst xmlns:a="http://schemas.openxmlformats.org/drawingml/2006/main">
              <a:ext uri="{FF2B5EF4-FFF2-40B4-BE49-F238E27FC236}">
                <a16:creationId xmlns:a16="http://schemas.microsoft.com/office/drawing/2014/main" id="{8B577031-8BFC-447F-AA10-6703898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238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Nykaa Fashion</a:t>
            </a:r>
          </a:p>
        </p:txBody>
      </p:sp>
      <p:sp>
        <p:nvSpPr>
          <p:cNvPr id="41" name="share-6-value">
            <a:extLst xmlns:a="http://schemas.openxmlformats.org/drawingml/2006/main">
              <a:ext uri="{FF2B5EF4-FFF2-40B4-BE49-F238E27FC236}">
                <a16:creationId xmlns:a16="http://schemas.microsoft.com/office/drawing/2014/main" id="{F0D92154-B694-40EE-BF2D-3E844FF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57700"/>
            <a:ext cx="85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2.3%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B5B814-646F-4644-AB97-F36A7DAD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D1C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5AFABF-A5E0-4B91-8A0E-4DDC94D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44" name="intent-gap-heading">
            <a:extLst xmlns:a="http://schemas.openxmlformats.org/drawingml/2006/main">
              <a:ext uri="{FF2B5EF4-FFF2-40B4-BE49-F238E27FC236}">
                <a16:creationId xmlns:a16="http://schemas.microsoft.com/office/drawing/2014/main" id="{29552A9A-8625-40CA-8D1A-425C07D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THE INTENT GAP</a:t>
            </a:r>
          </a:p>
        </p:txBody>
      </p:sp>
      <p:sp>
        <p:nvSpPr>
          <p:cNvPr id="45" name="journey-stage-1">
            <a:extLst xmlns:a="http://schemas.openxmlformats.org/drawingml/2006/main">
              <a:ext uri="{FF2B5EF4-FFF2-40B4-BE49-F238E27FC236}">
                <a16:creationId xmlns:a16="http://schemas.microsoft.com/office/drawing/2014/main" id="{6E7833C1-5636-4187-80B8-7787BDB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5F7B29-AFAB-4882-8D5B-16BADB54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054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2E61"/>
          </a:solidFill>
          <a:ln xmlns:a="http://schemas.openxmlformats.org/drawingml/2006/main" w="0">
            <a:solidFill>
              <a:srgbClr val="C42E61"/>
            </a:solidFill>
            <a:prstDash val="solid"/>
          </a:ln>
        </p:spPr>
      </p:sp>
      <p:sp>
        <p:nvSpPr>
          <p:cNvPr id="47" name="journey-stage-2">
            <a:extLst xmlns:a="http://schemas.openxmlformats.org/drawingml/2006/main">
              <a:ext uri="{FF2B5EF4-FFF2-40B4-BE49-F238E27FC236}">
                <a16:creationId xmlns:a16="http://schemas.microsoft.com/office/drawing/2014/main" id="{41EC87DD-661D-4621-8283-1B22B03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768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WISHLIST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F4372A-071F-49EF-AD1F-F891759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1054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2E61"/>
          </a:solidFill>
          <a:ln xmlns:a="http://schemas.openxmlformats.org/drawingml/2006/main" w="0">
            <a:solidFill>
              <a:srgbClr val="C42E61"/>
            </a:solidFill>
            <a:prstDash val="solid"/>
          </a:ln>
        </p:spPr>
      </p:sp>
      <p:sp>
        <p:nvSpPr>
          <p:cNvPr id="49" name="journey-stage-3">
            <a:extLst xmlns:a="http://schemas.openxmlformats.org/drawingml/2006/main">
              <a:ext uri="{FF2B5EF4-FFF2-40B4-BE49-F238E27FC236}">
                <a16:creationId xmlns:a16="http://schemas.microsoft.com/office/drawing/2014/main" id="{60282502-494E-4A3D-AA86-7290864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768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8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598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PURCHASE</a:t>
            </a:r>
          </a:p>
        </p:txBody>
      </p:sp>
      <p:sp>
        <p:nvSpPr>
          <p:cNvPr id="50" name="wishlist-captured-label">
            <a:extLst xmlns:a="http://schemas.openxmlformats.org/drawingml/2006/main">
              <a:ext uri="{FF2B5EF4-FFF2-40B4-BE49-F238E27FC236}">
                <a16:creationId xmlns:a16="http://schemas.microsoft.com/office/drawing/2014/main" id="{F82E1B07-8664-4E1E-AD5C-349F4770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29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WISHLIST</a:t>
            </a:r>
          </a:p>
        </p:txBody>
      </p:sp>
      <p:sp>
        <p:nvSpPr>
          <p:cNvPr id="51" name="wishlist-captured">
            <a:extLst xmlns:a="http://schemas.openxmlformats.org/drawingml/2006/main">
              <a:ext uri="{FF2B5EF4-FFF2-40B4-BE49-F238E27FC236}">
                <a16:creationId xmlns:a16="http://schemas.microsoft.com/office/drawing/2014/main" id="{3B74CEF7-F472-49FA-AC99-BF3962D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48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Captured intent</a:t>
            </a:r>
          </a:p>
        </p:txBody>
      </p:sp>
      <p:sp>
        <p:nvSpPr>
          <p:cNvPr id="52" name="unresolved-label">
            <a:extLst xmlns:a="http://schemas.openxmlformats.org/drawingml/2006/main">
              <a:ext uri="{FF2B5EF4-FFF2-40B4-BE49-F238E27FC236}">
                <a16:creationId xmlns:a16="http://schemas.microsoft.com/office/drawing/2014/main" id="{0D867F5E-2E5F-42D8-92CE-0767064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UNRESOLVED</a:t>
            </a:r>
          </a:p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53" name="intent-can-stall">
            <a:extLst xmlns:a="http://schemas.openxmlformats.org/drawingml/2006/main">
              <a:ext uri="{FF2B5EF4-FFF2-40B4-BE49-F238E27FC236}">
                <a16:creationId xmlns:a16="http://schemas.microsoft.com/office/drawing/2014/main" id="{3EE9068F-8565-4083-B223-72B9CC2F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Intent can stall</a:t>
            </a:r>
          </a:p>
        </p:txBody>
      </p:sp>
      <p:sp>
        <p:nvSpPr>
          <p:cNvPr id="54" name="purchase-opportunity-label">
            <a:extLst xmlns:a="http://schemas.openxmlformats.org/drawingml/2006/main">
              <a:ext uri="{FF2B5EF4-FFF2-40B4-BE49-F238E27FC236}">
                <a16:creationId xmlns:a16="http://schemas.microsoft.com/office/drawing/2014/main" id="{CC9A52E7-D169-4EFF-B2C1-8D708B72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292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PURCHASE</a:t>
            </a:r>
          </a:p>
        </p:txBody>
      </p:sp>
      <p:sp>
        <p:nvSpPr>
          <p:cNvPr id="55" name="opportunity-unrealized">
            <a:extLst xmlns:a="http://schemas.openxmlformats.org/drawingml/2006/main">
              <a:ext uri="{FF2B5EF4-FFF2-40B4-BE49-F238E27FC236}">
                <a16:creationId xmlns:a16="http://schemas.microsoft.com/office/drawing/2014/main" id="{73ACBC6D-0B3F-4A32-9441-3FDEF564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483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Opportunity remains</a:t>
            </a:r>
          </a:p>
          <a:p xmlns:a="http://schemas.openxmlformats.org/drawingml/2006/main">
            <a:pPr algn="l">
              <a:defRPr sz="1402" b="0" i="0">
                <a:solidFill>
                  <a:srgbClr val="5F5753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5F5753"/>
                </a:solidFill>
                <a:latin typeface="Arial"/>
                <a:ea typeface="Arial"/>
                <a:cs typeface="Arial"/>
              </a:rPr>
              <a:t>unrealized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8916AF-E2BD-4696-B327-4F7A1E8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245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42E6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5307F4-AB75-407A-95DB-151E209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4095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9525">
            <a:solidFill>
              <a:srgbClr val="C42E61"/>
            </a:solidFill>
            <a:prstDash val="solid"/>
          </a:ln>
        </p:spPr>
      </p:sp>
      <p:sp>
        <p:nvSpPr>
          <p:cNvPr id="58" name="assignment-heading">
            <a:extLst xmlns:a="http://schemas.openxmlformats.org/drawingml/2006/main">
              <a:ext uri="{FF2B5EF4-FFF2-40B4-BE49-F238E27FC236}">
                <a16:creationId xmlns:a16="http://schemas.microsoft.com/office/drawing/2014/main" id="{E7FB441A-221C-4561-8996-642C7C75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8E1E48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59" name="assignment-question">
            <a:extLst xmlns:a="http://schemas.openxmlformats.org/drawingml/2006/main">
              <a:ext uri="{FF2B5EF4-FFF2-40B4-BE49-F238E27FC236}">
                <a16:creationId xmlns:a16="http://schemas.microsoft.com/office/drawing/2014/main" id="{C5EDC8AD-989B-4ADF-A35F-1A2A306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143500"/>
            <a:ext cx="3638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1" i="0">
                <a:solidFill>
                  <a:srgbClr val="201C1A"/>
                </a:solidFill>
                <a:latin typeface="Arial"/>
                <a:ea typeface="Arial"/>
                <a:cs typeface="Arial"/>
              </a:defRPr>
            </a:pPr>
            <a:r>
              <a:rPr sz="1402" b="1" i="0">
                <a:solidFill>
                  <a:srgbClr val="201C1A"/>
                </a:solidFill>
                <a:latin typeface="Arial"/>
                <a:ea typeface="Arial"/>
                <a:cs typeface="Arial"/>
              </a:rPr>
              <a:t>How might we increase the percentage of users who purchase ≥1 wishlisted item within 30 days of adding it without monetary incentives?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BF6462-C3B5-4077-91A7-91FDF1A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1CB"/>
            </a:solidFill>
            <a:prstDash val="solid"/>
          </a:ln>
        </p:spPr>
      </p:sp>
      <p:sp>
        <p:nvSpPr>
          <p:cNvPr id="61" name="source-q1">
            <a:extLst xmlns:a="http://schemas.openxmlformats.org/drawingml/2006/main">
              <a:ext uri="{FF2B5EF4-FFF2-40B4-BE49-F238E27FC236}">
                <a16:creationId xmlns:a16="http://schemas.microsoft.com/office/drawing/2014/main" id="{98D04463-4E30-4D55-8B6F-815C4F7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8E1E48"/>
                </a:solidFill>
                <a:latin typeface="Arial"/>
                <a:ea typeface="Arial"/>
                <a:cs typeface="Arial"/>
                <a:hlinkClick xmlns:r="http://schemas.openxmlformats.org/officeDocument/2006/relationships" r:id="Rba13f9a0fde34d4b"/>
              </a:rPr>
              <a:t>Source: Nykaa Q1 FY27</a:t>
            </a:r>
          </a:p>
        </p:txBody>
      </p:sp>
      <p:sp>
        <p:nvSpPr>
          <p:cNvPr id="62" name="source-annual">
            <a:extLst xmlns:a="http://schemas.openxmlformats.org/drawingml/2006/main">
              <a:ext uri="{FF2B5EF4-FFF2-40B4-BE49-F238E27FC236}">
                <a16:creationId xmlns:a16="http://schemas.microsoft.com/office/drawing/2014/main" id="{3716BC9F-72F8-407A-835D-6D2E872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2" b="0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8E1E48"/>
                </a:solidFill>
                <a:latin typeface="Arial"/>
                <a:ea typeface="Arial"/>
                <a:cs typeface="Arial"/>
                <a:hlinkClick xmlns:r="http://schemas.openxmlformats.org/officeDocument/2006/relationships" r:id="R033c650a78fe4ce5"/>
              </a:rPr>
              <a:t>Source: Nykaa FY25 Annual Report / Redseer</a:t>
            </a:r>
          </a:p>
        </p:txBody>
      </p:sp>
      <p:sp>
        <p:nvSpPr>
          <p:cNvPr id="63" name="source-share">
            <a:extLst xmlns:a="http://schemas.openxmlformats.org/drawingml/2006/main">
              <a:ext uri="{FF2B5EF4-FFF2-40B4-BE49-F238E27FC236}">
                <a16:creationId xmlns:a16="http://schemas.microsoft.com/office/drawing/2014/main" id="{3FDED1EB-CA93-4039-B07E-F5673EE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2" b="0" i="0">
                <a:solidFill>
                  <a:srgbClr val="8E1E48"/>
                </a:solidFill>
                <a:latin typeface="Arial"/>
                <a:ea typeface="Arial"/>
                <a:cs typeface="Arial"/>
              </a:defRPr>
            </a:pPr>
            <a:r>
              <a:rPr sz="1402" b="0" i="0">
                <a:solidFill>
                  <a:srgbClr val="8E1E48"/>
                </a:solidFill>
                <a:latin typeface="Arial"/>
                <a:ea typeface="Arial"/>
                <a:cs typeface="Arial"/>
                <a:hlinkClick xmlns:r="http://schemas.openxmlformats.org/officeDocument/2006/relationships" r:id="R023457f1f6b6482b"/>
              </a:rPr>
              <a:t>Source: Datum Intelligence via Mint</a:t>
            </a:r>
          </a:p>
        </p:txBody>
      </p:sp>
    </p:spTree>
    <p:extLst>
      <p:ext uri="{BB962C8B-B14F-4D97-AF65-F5344CB8AC3E}">
        <p14:creationId xmlns:p14="http://schemas.microsoft.com/office/powerpoint/2010/main" val="1105167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2026-09-05T01:31:19.8150000Z</dcterms:created>
  <dcterms:modified xsi:type="dcterms:W3CDTF">2026-09-05T01:31:19.8150000Z</dcterms:modified>
</coreProperties>
</file>